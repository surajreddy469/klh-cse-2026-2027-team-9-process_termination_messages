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11480" y="6080760"/>
            <a:ext cx="2331720" cy="0"/>
          </a:xfrm>
          <a:prstGeom prst="line">
            <a:avLst/>
          </a:prstGeom>
          <a:ln>
            <a:solidFill>
              <a:srgbClr val="1F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6263640"/>
            <a:ext cx="2331720" cy="0"/>
          </a:xfrm>
          <a:prstGeom prst="line">
            <a:avLst/>
          </a:prstGeom>
          <a:ln>
            <a:solidFill>
              <a:srgbClr val="1F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11480" y="6446520"/>
            <a:ext cx="2331720" cy="0"/>
          </a:xfrm>
          <a:prstGeom prst="line">
            <a:avLst/>
          </a:prstGeom>
          <a:ln>
            <a:solidFill>
              <a:srgbClr val="1F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914400"/>
            <a:ext cx="658368" cy="658368"/>
          </a:xfrm>
          <a:prstGeom prst="roundRect">
            <a:avLst/>
          </a:prstGeom>
          <a:solidFill>
            <a:srgbClr val="102238"/>
          </a:solidFill>
          <a:ln>
            <a:solidFill>
              <a:srgbClr val="3A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024128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ACCDA"/>
                </a:solidFill>
                <a:latin typeface="Consolas"/>
              </a:defRPr>
            </a:pPr>
            <a:r>
              <a:t>&gt;_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700" b="1">
                <a:solidFill>
                  <a:srgbClr val="F1F6FB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395728"/>
            <a:ext cx="6675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700" b="1">
                <a:solidFill>
                  <a:srgbClr val="3ACCDA"/>
                </a:solidFill>
                <a:latin typeface="Aptos"/>
              </a:defRPr>
            </a:pPr>
            <a:r>
              <a:t>TERMINATION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97180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700" b="1">
                <a:solidFill>
                  <a:srgbClr val="F1F6FB"/>
                </a:solidFill>
                <a:latin typeface="Aptos"/>
              </a:defRPr>
            </a:pPr>
            <a:r>
              <a:t>MESSAGES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30752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EB0C5"/>
                </a:solidFill>
                <a:latin typeface="Aptos"/>
              </a:defRPr>
            </a:pPr>
            <a:r>
              <a:t>Linux-based Operating Systems and Systems Programming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177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ACCDA"/>
                </a:solidFill>
                <a:latin typeface="Aptos"/>
              </a:defRPr>
            </a:pPr>
            <a:r>
              <a:t>Section 4  •  Team 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914400"/>
            <a:ext cx="4434840" cy="4526280"/>
          </a:xfrm>
          <a:prstGeom prst="roundRect">
            <a:avLst/>
          </a:prstGeom>
          <a:solidFill>
            <a:srgbClr val="0B192B"/>
          </a:solidFill>
          <a:ln>
            <a:solidFill>
              <a:srgbClr val="1F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1261872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ACCDA"/>
                </a:solidFill>
                <a:latin typeface="Aptos"/>
              </a:defRPr>
            </a:pPr>
            <a:r>
              <a:t>TEAM MEMBERS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8288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EB0C5"/>
                </a:solidFill>
                <a:latin typeface="Aptos"/>
              </a:defRPr>
            </a:pPr>
            <a:r>
              <a:t>ROLL NUMBER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828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EB0C5"/>
                </a:solidFill>
                <a:latin typeface="Aptos"/>
              </a:defRPr>
            </a:pPr>
            <a:r>
              <a:t>STUDENT NAME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96912" y="2176272"/>
            <a:ext cx="3794760" cy="9144"/>
          </a:xfrm>
          <a:prstGeom prst="rect">
            <a:avLst/>
          </a:prstGeom>
          <a:solidFill>
            <a:srgbClr val="1F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24505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6FB"/>
                </a:solidFill>
                <a:latin typeface="Consolas"/>
              </a:defRPr>
            </a:pPr>
            <a:r>
              <a:t>2520030386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4505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6FB"/>
                </a:solidFill>
                <a:latin typeface="Aptos"/>
              </a:defRPr>
            </a:pPr>
            <a:r>
              <a:t>T. Jashwanth Ram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96912" y="2889504"/>
            <a:ext cx="3794760" cy="9144"/>
          </a:xfrm>
          <a:prstGeom prst="rect">
            <a:avLst/>
          </a:prstGeom>
          <a:solidFill>
            <a:srgbClr val="1F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3108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6FB"/>
                </a:solidFill>
                <a:latin typeface="Consolas"/>
              </a:defRPr>
            </a:pPr>
            <a:r>
              <a:t>2520030433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108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6FB"/>
                </a:solidFill>
                <a:latin typeface="Aptos"/>
              </a:defRPr>
            </a:pPr>
            <a:r>
              <a:t>J. Sai Shashank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96912" y="3547872"/>
            <a:ext cx="3794760" cy="9144"/>
          </a:xfrm>
          <a:prstGeom prst="rect">
            <a:avLst/>
          </a:prstGeom>
          <a:solidFill>
            <a:srgbClr val="1F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37673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6FB"/>
                </a:solidFill>
                <a:latin typeface="Consolas"/>
              </a:defRPr>
            </a:pPr>
            <a:r>
              <a:t>2520030472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7673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6FB"/>
                </a:solidFill>
                <a:latin typeface="Aptos"/>
              </a:defRPr>
            </a:pPr>
            <a:r>
              <a:t>A. Arun Tej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96912" y="4919472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4DC70"/>
                </a:solidFill>
                <a:latin typeface="Consolas"/>
              </a:defRPr>
            </a:pPr>
            <a:r>
              <a:t>✓ Process Termination Messages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9EB0C5"/>
                </a:solidFill>
                <a:latin typeface="Aptos"/>
              </a:defRPr>
            </a:pPr>
            <a:r>
              <a:t>OSSP • 25CS2104E • 2026–27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5566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EB0C5"/>
                </a:solidFill>
                <a:latin typeface="Aptos"/>
              </a:defRPr>
            </a:pPr>
            <a:r>
              <a:t>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11480" y="6080760"/>
            <a:ext cx="2331720" cy="0"/>
          </a:xfrm>
          <a:prstGeom prst="line">
            <a:avLst/>
          </a:prstGeom>
          <a:ln>
            <a:solidFill>
              <a:srgbClr val="1F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6263640"/>
            <a:ext cx="2331720" cy="0"/>
          </a:xfrm>
          <a:prstGeom prst="line">
            <a:avLst/>
          </a:prstGeom>
          <a:ln>
            <a:solidFill>
              <a:srgbClr val="1F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11480" y="6446520"/>
            <a:ext cx="2331720" cy="0"/>
          </a:xfrm>
          <a:prstGeom prst="line">
            <a:avLst/>
          </a:prstGeom>
          <a:ln>
            <a:solidFill>
              <a:srgbClr val="1F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3200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ACCD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6FB"/>
                </a:solidFill>
                <a:latin typeface="Aptos"/>
              </a:defRPr>
            </a:pPr>
            <a:r>
              <a:t>Abstract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78638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B0C5"/>
                </a:solidFill>
                <a:latin typeface="Aptos"/>
              </a:defRPr>
            </a:pPr>
            <a:r>
              <a:t>Condensed directly from the submitted abstract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1170432"/>
            <a:ext cx="10972800" cy="0"/>
          </a:xfrm>
          <a:prstGeom prst="line">
            <a:avLst/>
          </a:prstGeom>
          <a:ln>
            <a:solidFill>
              <a:srgbClr val="1F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58368" y="1508760"/>
            <a:ext cx="6903720" cy="4526280"/>
          </a:xfrm>
          <a:prstGeom prst="roundRect">
            <a:avLst/>
          </a:prstGeom>
          <a:solidFill>
            <a:srgbClr val="0B192B"/>
          </a:solidFill>
          <a:ln>
            <a:solidFill>
              <a:srgbClr val="1F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1832" y="1956816"/>
            <a:ext cx="64008" cy="64008"/>
          </a:xfrm>
          <a:prstGeom prst="roundRect">
            <a:avLst/>
          </a:prstGeom>
          <a:solidFill>
            <a:srgbClr val="3AC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1847088"/>
            <a:ext cx="6062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1F6FB"/>
                </a:solidFill>
                <a:latin typeface="Aptos"/>
              </a:defRPr>
            </a:pPr>
            <a:r>
              <a:t>Demonstrates how a parent process can create, execute, monitor, and identify the termination of a child process.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" y="2670048"/>
            <a:ext cx="64008" cy="64008"/>
          </a:xfrm>
          <a:prstGeom prst="roundRect">
            <a:avLst/>
          </a:prstGeom>
          <a:solidFill>
            <a:srgbClr val="3AC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560320"/>
            <a:ext cx="6062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1F6FB"/>
                </a:solidFill>
                <a:latin typeface="Aptos"/>
              </a:defRPr>
            </a:pPr>
            <a:r>
              <a:t>Uses C with Linux/POSIX mechanisms such as fork(), waitpid(), exit(), process identifiers, and termination-status macros.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" y="3383280"/>
            <a:ext cx="64008" cy="64008"/>
          </a:xfrm>
          <a:prstGeom prst="roundRect">
            <a:avLst/>
          </a:prstGeom>
          <a:solidFill>
            <a:srgbClr val="3AC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273552"/>
            <a:ext cx="6062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1F6FB"/>
                </a:solidFill>
                <a:latin typeface="Aptos"/>
              </a:defRPr>
            </a:pPr>
            <a:r>
              <a:t>The child performs a selected task and terminates with an exit status; the parent waits and displays a meaningful termination message.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2" y="4096511"/>
            <a:ext cx="64008" cy="64008"/>
          </a:xfrm>
          <a:prstGeom prst="roundRect">
            <a:avLst/>
          </a:prstGeom>
          <a:solidFill>
            <a:srgbClr val="3AC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986783"/>
            <a:ext cx="6062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1F6FB"/>
                </a:solidFill>
                <a:latin typeface="Aptos"/>
              </a:defRPr>
            </a:pPr>
            <a:r>
              <a:t>The system distinguishes normal termination from termination due to other conditions and displays PID and exit status.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" y="4809744"/>
            <a:ext cx="64008" cy="64008"/>
          </a:xfrm>
          <a:prstGeom prst="roundRect">
            <a:avLst/>
          </a:prstGeom>
          <a:solidFill>
            <a:srgbClr val="3AC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700016"/>
            <a:ext cx="6062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1F6FB"/>
                </a:solidFill>
                <a:latin typeface="Aptos"/>
              </a:defRPr>
            </a:pPr>
            <a:r>
              <a:t>Provides a practical demonstration of process creation, parent-child relationships, synchronization, and process termination in Linux.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1508760"/>
            <a:ext cx="3611880" cy="4526280"/>
          </a:xfrm>
          <a:prstGeom prst="roundRect">
            <a:avLst/>
          </a:prstGeom>
          <a:solidFill>
            <a:srgbClr val="102238"/>
          </a:solidFill>
          <a:ln>
            <a:solidFill>
              <a:srgbClr val="3A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1874519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ACCDA"/>
                </a:solidFill>
                <a:latin typeface="Aptos"/>
              </a:defRPr>
            </a:pPr>
            <a:r>
              <a:t>EXPECTED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487168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1F6FB"/>
                </a:solidFill>
                <a:latin typeface="Aptos"/>
              </a:defRPr>
            </a:pPr>
            <a:r>
              <a:t>Small, reliable</a:t>
            </a:r>
            <a:br/>
            <a:r>
              <a:t>command-line program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703320"/>
            <a:ext cx="2880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EB0C5"/>
                </a:solidFill>
                <a:latin typeface="Aptos"/>
              </a:defRPr>
            </a:pPr>
            <a:r>
              <a:t>Helps users understand</a:t>
            </a:r>
            <a:br/>
            <a:r>
              <a:t>process termination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4572000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4DC70"/>
                </a:solidFill>
                <a:latin typeface="Aptos"/>
              </a:defRPr>
            </a:pPr>
            <a:r>
              <a:t>while demonstrating core</a:t>
            </a:r>
            <a:br/>
            <a:r>
              <a:t>Operating Systems and</a:t>
            </a:r>
            <a:br/>
            <a:r>
              <a:t>POSIX system-programming concepts.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9EB0C5"/>
                </a:solidFill>
                <a:latin typeface="Aptos"/>
              </a:defRPr>
            </a:pPr>
            <a:r>
              <a:t>OSSP • 25CS2104E • 2026–27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5566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EB0C5"/>
                </a:solidFill>
                <a:latin typeface="Aptos"/>
              </a:defRPr>
            </a:pPr>
            <a: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11480" y="6080760"/>
            <a:ext cx="2331720" cy="0"/>
          </a:xfrm>
          <a:prstGeom prst="line">
            <a:avLst/>
          </a:prstGeom>
          <a:ln>
            <a:solidFill>
              <a:srgbClr val="1F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6263640"/>
            <a:ext cx="2331720" cy="0"/>
          </a:xfrm>
          <a:prstGeom prst="line">
            <a:avLst/>
          </a:prstGeom>
          <a:ln>
            <a:solidFill>
              <a:srgbClr val="1F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11480" y="6446520"/>
            <a:ext cx="2331720" cy="0"/>
          </a:xfrm>
          <a:prstGeom prst="line">
            <a:avLst/>
          </a:prstGeom>
          <a:ln>
            <a:solidFill>
              <a:srgbClr val="1F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3200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ACCD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6FB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78638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B0C5"/>
                </a:solidFill>
                <a:latin typeface="Aptos"/>
              </a:defRPr>
            </a:pPr>
            <a:r>
              <a:t>Problem context and OS relevance from the submission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1170432"/>
            <a:ext cx="10972800" cy="0"/>
          </a:xfrm>
          <a:prstGeom prst="line">
            <a:avLst/>
          </a:prstGeom>
          <a:ln>
            <a:solidFill>
              <a:srgbClr val="1F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58368" y="1508760"/>
            <a:ext cx="10881360" cy="1508760"/>
          </a:xfrm>
          <a:prstGeom prst="roundRect">
            <a:avLst/>
          </a:prstGeom>
          <a:solidFill>
            <a:srgbClr val="0B192B"/>
          </a:solidFill>
          <a:ln>
            <a:solidFill>
              <a:srgbClr val="1F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83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B5F5F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76272"/>
            <a:ext cx="10012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1F6FB"/>
                </a:solidFill>
                <a:latin typeface="Aptos"/>
              </a:defRPr>
            </a:pPr>
            <a:r>
              <a:t>A process may finish normally or terminate because of an error or another condition. Beginners often find it difficult to understand how the parent process detects and reports the termination of a child process.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10128"/>
            <a:ext cx="3246120" cy="2240280"/>
          </a:xfrm>
          <a:prstGeom prst="roundRect">
            <a:avLst/>
          </a:prstGeom>
          <a:solidFill>
            <a:srgbClr val="0B192B"/>
          </a:solidFill>
          <a:ln>
            <a:solidFill>
              <a:srgbClr val="3A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61188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ACCDA"/>
                </a:solidFill>
                <a:latin typeface="Aptos"/>
              </a:defRPr>
            </a:pPr>
            <a:r>
              <a:t>PROCESS CREATION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6052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1F6FB"/>
                </a:solidFill>
                <a:latin typeface="Consolas"/>
              </a:defRPr>
            </a:pPr>
            <a:r>
              <a:t>fork()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709160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EB0C5"/>
                </a:solidFill>
                <a:latin typeface="Aptos"/>
              </a:defRPr>
            </a:pPr>
            <a:r>
              <a:t>Parent creates a child process.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24528" y="3310128"/>
            <a:ext cx="3246120" cy="2240280"/>
          </a:xfrm>
          <a:prstGeom prst="roundRect">
            <a:avLst/>
          </a:prstGeom>
          <a:solidFill>
            <a:srgbClr val="0B192B"/>
          </a:solidFill>
          <a:ln>
            <a:solidFill>
              <a:srgbClr val="54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361188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485FF"/>
                </a:solidFill>
                <a:latin typeface="Aptos"/>
              </a:defRPr>
            </a:pPr>
            <a:r>
              <a:t>SYNCHRONIZATION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416052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1F6FB"/>
                </a:solidFill>
                <a:latin typeface="Consolas"/>
              </a:defRPr>
            </a:pPr>
            <a:r>
              <a:t>waitpid()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4709160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EB0C5"/>
                </a:solidFill>
                <a:latin typeface="Aptos"/>
              </a:defRPr>
            </a:pPr>
            <a:r>
              <a:t>Parent waits for the child.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90688" y="3310128"/>
            <a:ext cx="3246120" cy="2240280"/>
          </a:xfrm>
          <a:prstGeom prst="roundRect">
            <a:avLst/>
          </a:prstGeom>
          <a:solidFill>
            <a:srgbClr val="0B192B"/>
          </a:solidFill>
          <a:ln>
            <a:solidFill>
              <a:srgbClr val="44D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9288" y="361188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4DC70"/>
                </a:solidFill>
                <a:latin typeface="Aptos"/>
              </a:defRPr>
            </a:pPr>
            <a:r>
              <a:t>TERMINATION 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9288" y="416052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1F6FB"/>
                </a:solidFill>
                <a:latin typeface="Aptos"/>
              </a:defRPr>
            </a:pPr>
            <a:r>
              <a:t>NORMAL / OTHER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9288" y="4709160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EB0C5"/>
                </a:solidFill>
                <a:latin typeface="Aptos"/>
              </a:defRPr>
            </a:pPr>
            <a:r>
              <a:t>Status is checked and an appropriate message is displayed.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9EB0C5"/>
                </a:solidFill>
                <a:latin typeface="Aptos"/>
              </a:defRPr>
            </a:pPr>
            <a:r>
              <a:t>OSSP • 25CS2104E • 2026–27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5566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EB0C5"/>
                </a:solidFill>
                <a:latin typeface="Aptos"/>
              </a:defRPr>
            </a:pPr>
            <a: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11480" y="6080760"/>
            <a:ext cx="2331720" cy="0"/>
          </a:xfrm>
          <a:prstGeom prst="line">
            <a:avLst/>
          </a:prstGeom>
          <a:ln>
            <a:solidFill>
              <a:srgbClr val="1F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6263640"/>
            <a:ext cx="2331720" cy="0"/>
          </a:xfrm>
          <a:prstGeom prst="line">
            <a:avLst/>
          </a:prstGeom>
          <a:ln>
            <a:solidFill>
              <a:srgbClr val="1F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11480" y="6446520"/>
            <a:ext cx="2331720" cy="0"/>
          </a:xfrm>
          <a:prstGeom prst="line">
            <a:avLst/>
          </a:prstGeom>
          <a:ln>
            <a:solidFill>
              <a:srgbClr val="1F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3200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ACCD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6FB"/>
                </a:solidFill>
                <a:latin typeface="Aptos"/>
              </a:defRPr>
            </a:pPr>
            <a:r>
              <a:t>Existing System / Problem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78638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B0C5"/>
                </a:solidFill>
                <a:latin typeface="Aptos"/>
              </a:defRPr>
            </a:pPr>
            <a:r>
              <a:t>Only the challenge described in the submitted problem statement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1170432"/>
            <a:ext cx="10972800" cy="0"/>
          </a:xfrm>
          <a:prstGeom prst="line">
            <a:avLst/>
          </a:prstGeom>
          <a:ln>
            <a:solidFill>
              <a:srgbClr val="1F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58368" y="1508760"/>
            <a:ext cx="6858000" cy="4526280"/>
          </a:xfrm>
          <a:prstGeom prst="roundRect">
            <a:avLst/>
          </a:prstGeom>
          <a:solidFill>
            <a:srgbClr val="0B192B"/>
          </a:solidFill>
          <a:ln>
            <a:solidFill>
              <a:srgbClr val="1F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1828800"/>
            <a:ext cx="6172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B5F5F"/>
                </a:solidFill>
                <a:latin typeface="Aptos"/>
              </a:defRPr>
            </a:pPr>
            <a:r>
              <a:t>CURRENT CHALLENGE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2441448"/>
            <a:ext cx="64008" cy="64008"/>
          </a:xfrm>
          <a:prstGeom prst="roundRect">
            <a:avLst/>
          </a:prstGeom>
          <a:solidFill>
            <a:srgbClr val="EB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2331720"/>
            <a:ext cx="58795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6FB"/>
                </a:solidFill>
                <a:latin typeface="Aptos"/>
              </a:defRPr>
            </a:pPr>
            <a:r>
              <a:t>A process can terminate normally, because of an error, or because of another condition.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3227832"/>
            <a:ext cx="64008" cy="64008"/>
          </a:xfrm>
          <a:prstGeom prst="roundRect">
            <a:avLst/>
          </a:prstGeom>
          <a:solidFill>
            <a:srgbClr val="EB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3118103"/>
            <a:ext cx="58795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6FB"/>
                </a:solidFill>
                <a:latin typeface="Aptos"/>
              </a:defRPr>
            </a:pPr>
            <a:r>
              <a:t>Beginners may find it difficult to understand how the parent detects the child’s termination.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014215"/>
            <a:ext cx="64008" cy="64008"/>
          </a:xfrm>
          <a:prstGeom prst="roundRect">
            <a:avLst/>
          </a:prstGeom>
          <a:solidFill>
            <a:srgbClr val="EB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61288" y="3904487"/>
            <a:ext cx="58795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6FB"/>
                </a:solidFill>
                <a:latin typeface="Aptos"/>
              </a:defRPr>
            </a:pPr>
            <a:r>
              <a:t>The termination status needs to be checked and reported clearly.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4800600"/>
            <a:ext cx="64008" cy="64008"/>
          </a:xfrm>
          <a:prstGeom prst="roundRect">
            <a:avLst/>
          </a:prstGeom>
          <a:solidFill>
            <a:srgbClr val="EB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1288" y="4690872"/>
            <a:ext cx="58795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6FB"/>
                </a:solidFill>
                <a:latin typeface="Aptos"/>
              </a:defRPr>
            </a:pPr>
            <a:r>
              <a:t>The problem statement calls for a simple Linux program that creates a child, waits for it, checks status, and displays an appropriate message.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1508760"/>
            <a:ext cx="3611880" cy="4526280"/>
          </a:xfrm>
          <a:prstGeom prst="roundRect">
            <a:avLst/>
          </a:prstGeom>
          <a:solidFill>
            <a:srgbClr val="102238"/>
          </a:solidFill>
          <a:ln>
            <a:solidFill>
              <a:srgbClr val="EB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1874519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B5F5F"/>
                </a:solidFill>
                <a:latin typeface="Aptos"/>
              </a:defRPr>
            </a:pPr>
            <a:r>
              <a:t>SOURCE-DEFINED NEED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51460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1F6FB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91472" y="284378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EB0C5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17296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1F6FB"/>
                </a:solidFill>
                <a:latin typeface="Aptos"/>
              </a:defRPr>
            </a:pPr>
            <a:r>
              <a:t>Wait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91472" y="3502151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EB0C5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831335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1F6FB"/>
                </a:solidFill>
                <a:latin typeface="Aptos"/>
              </a:defRPr>
            </a:pPr>
            <a:r>
              <a:t>Check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91472" y="4160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EB0C5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48970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4DC70"/>
                </a:solidFill>
                <a:latin typeface="Aptos"/>
              </a:defRPr>
            </a:pPr>
            <a:r>
              <a:t>Display message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9EB0C5"/>
                </a:solidFill>
                <a:latin typeface="Aptos"/>
              </a:defRPr>
            </a:pPr>
            <a:r>
              <a:t>OSSP • 25CS2104E • 2026–27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5566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EB0C5"/>
                </a:solidFill>
                <a:latin typeface="Aptos"/>
              </a:defRPr>
            </a:pPr>
            <a: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11480" y="6080760"/>
            <a:ext cx="2331720" cy="0"/>
          </a:xfrm>
          <a:prstGeom prst="line">
            <a:avLst/>
          </a:prstGeom>
          <a:ln>
            <a:solidFill>
              <a:srgbClr val="1F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6263640"/>
            <a:ext cx="2331720" cy="0"/>
          </a:xfrm>
          <a:prstGeom prst="line">
            <a:avLst/>
          </a:prstGeom>
          <a:ln>
            <a:solidFill>
              <a:srgbClr val="1F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11480" y="6446520"/>
            <a:ext cx="2331720" cy="0"/>
          </a:xfrm>
          <a:prstGeom prst="line">
            <a:avLst/>
          </a:prstGeom>
          <a:ln>
            <a:solidFill>
              <a:srgbClr val="1F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3200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ACCD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6FB"/>
                </a:solidFill>
                <a:latin typeface="Aptos"/>
              </a:defRPr>
            </a:pPr>
            <a:r>
              <a:t>Proposed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78638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B0C5"/>
                </a:solidFill>
                <a:latin typeface="Aptos"/>
              </a:defRPr>
            </a:pPr>
            <a:r>
              <a:t>Implementation described in the submitted methodology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1170432"/>
            <a:ext cx="10972800" cy="0"/>
          </a:xfrm>
          <a:prstGeom prst="line">
            <a:avLst/>
          </a:prstGeom>
          <a:ln>
            <a:solidFill>
              <a:srgbClr val="1F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58368" y="1508760"/>
            <a:ext cx="3246120" cy="1645920"/>
          </a:xfrm>
          <a:prstGeom prst="roundRect">
            <a:avLst/>
          </a:prstGeom>
          <a:solidFill>
            <a:srgbClr val="0B192B"/>
          </a:solidFill>
          <a:ln>
            <a:solidFill>
              <a:srgbClr val="1F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691639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ACCDA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169163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ACCDA"/>
                </a:solidFill>
                <a:latin typeface="Aptos"/>
              </a:defRPr>
            </a:pPr>
            <a:r>
              <a:t>PARENT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221991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1F6FB"/>
                </a:solidFill>
                <a:latin typeface="Aptos"/>
              </a:defRPr>
            </a:pPr>
            <a:r>
              <a:t>Calls fork()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508760"/>
            <a:ext cx="3246120" cy="1645920"/>
          </a:xfrm>
          <a:prstGeom prst="roundRect">
            <a:avLst/>
          </a:prstGeom>
          <a:solidFill>
            <a:srgbClr val="0B192B"/>
          </a:solidFill>
          <a:ln>
            <a:solidFill>
              <a:srgbClr val="1F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691639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485F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69163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485FF"/>
                </a:solidFill>
                <a:latin typeface="Aptos"/>
              </a:defRPr>
            </a:pPr>
            <a:r>
              <a:t>CHILD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221991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1F6FB"/>
                </a:solidFill>
                <a:latin typeface="Aptos"/>
              </a:defRPr>
            </a:pPr>
            <a:r>
              <a:t>Executes a simple task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2" y="1508760"/>
            <a:ext cx="3246120" cy="1645920"/>
          </a:xfrm>
          <a:prstGeom prst="roundRect">
            <a:avLst/>
          </a:prstGeom>
          <a:solidFill>
            <a:srgbClr val="0B192B"/>
          </a:solidFill>
          <a:ln>
            <a:solidFill>
              <a:srgbClr val="1F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691639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B5F5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4232" y="169163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B5F5F"/>
                </a:solidFill>
                <a:latin typeface="Aptos"/>
              </a:defRPr>
            </a:pPr>
            <a:r>
              <a:t>CHILD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2" y="2221991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1F6FB"/>
                </a:solidFill>
                <a:latin typeface="Aptos"/>
              </a:defRPr>
            </a:pPr>
            <a:r>
              <a:t>Terminates with selected exit status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657600"/>
            <a:ext cx="3246120" cy="1645920"/>
          </a:xfrm>
          <a:prstGeom prst="roundRect">
            <a:avLst/>
          </a:prstGeom>
          <a:solidFill>
            <a:srgbClr val="0B192B"/>
          </a:solidFill>
          <a:ln>
            <a:solidFill>
              <a:srgbClr val="1F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38404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485F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4168" y="3840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485FF"/>
                </a:solidFill>
                <a:latin typeface="Aptos"/>
              </a:defRPr>
            </a:pPr>
            <a:r>
              <a:t>PARENT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4370832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1F6FB"/>
                </a:solidFill>
                <a:latin typeface="Aptos"/>
              </a:defRPr>
            </a:pPr>
            <a:r>
              <a:t>Uses waitpid()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3657600"/>
            <a:ext cx="3246120" cy="1645920"/>
          </a:xfrm>
          <a:prstGeom prst="roundRect">
            <a:avLst/>
          </a:prstGeom>
          <a:solidFill>
            <a:srgbClr val="0B192B"/>
          </a:solidFill>
          <a:ln>
            <a:solidFill>
              <a:srgbClr val="1F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44568" y="38404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ACCDA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840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ACCDA"/>
                </a:solidFill>
                <a:latin typeface="Aptos"/>
              </a:defRPr>
            </a:pPr>
            <a:r>
              <a:t>PROGRAM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370832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1F6FB"/>
                </a:solidFill>
                <a:latin typeface="Aptos"/>
              </a:defRPr>
            </a:pPr>
            <a:r>
              <a:t>Examines termination status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28432" y="3657600"/>
            <a:ext cx="3246120" cy="1645920"/>
          </a:xfrm>
          <a:prstGeom prst="roundRect">
            <a:avLst/>
          </a:prstGeom>
          <a:solidFill>
            <a:srgbClr val="0B192B"/>
          </a:solidFill>
          <a:ln>
            <a:solidFill>
              <a:srgbClr val="1F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38404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4DC70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14232" y="3840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4DC70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2" y="4370832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1F6FB"/>
                </a:solidFill>
                <a:latin typeface="Aptos"/>
              </a:defRPr>
            </a:pPr>
            <a:r>
              <a:t>Prints clear termination message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5715000"/>
            <a:ext cx="9966960" cy="384048"/>
          </a:xfrm>
          <a:prstGeom prst="roundRect">
            <a:avLst/>
          </a:prstGeom>
          <a:solidFill>
            <a:srgbClr val="102238"/>
          </a:solidFill>
          <a:ln>
            <a:solidFill>
              <a:srgbClr val="3A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34440" y="5788152"/>
            <a:ext cx="9692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EB0C5"/>
                </a:solidFill>
                <a:latin typeface="Aptos"/>
              </a:defRPr>
            </a:pPr>
            <a:r>
              <a:t>Different test cases demonstrate normal and abnormal termination scenarios.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9EB0C5"/>
                </a:solidFill>
                <a:latin typeface="Aptos"/>
              </a:defRPr>
            </a:pPr>
            <a:r>
              <a:t>OSSP • 25CS2104E • 2026–27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5566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EB0C5"/>
                </a:solidFill>
                <a:latin typeface="Aptos"/>
              </a:defRPr>
            </a:pPr>
            <a: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11480" y="6080760"/>
            <a:ext cx="2331720" cy="0"/>
          </a:xfrm>
          <a:prstGeom prst="line">
            <a:avLst/>
          </a:prstGeom>
          <a:ln>
            <a:solidFill>
              <a:srgbClr val="1F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6263640"/>
            <a:ext cx="2331720" cy="0"/>
          </a:xfrm>
          <a:prstGeom prst="line">
            <a:avLst/>
          </a:prstGeom>
          <a:ln>
            <a:solidFill>
              <a:srgbClr val="1F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11480" y="6446520"/>
            <a:ext cx="2331720" cy="0"/>
          </a:xfrm>
          <a:prstGeom prst="line">
            <a:avLst/>
          </a:prstGeom>
          <a:ln>
            <a:solidFill>
              <a:srgbClr val="1F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3200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ACCD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6FB"/>
                </a:solidFill>
                <a:latin typeface="Aptos"/>
              </a:defRPr>
            </a:pPr>
            <a:r>
              <a:t>Work Flow /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78638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B0C5"/>
                </a:solidFill>
                <a:latin typeface="Aptos"/>
              </a:defRPr>
            </a:pPr>
            <a:r>
              <a:t>Flow directly based on the proposed methodology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1170432"/>
            <a:ext cx="10972800" cy="0"/>
          </a:xfrm>
          <a:prstGeom prst="line">
            <a:avLst/>
          </a:prstGeom>
          <a:ln>
            <a:solidFill>
              <a:srgbClr val="1F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58368" y="1417320"/>
            <a:ext cx="2331720" cy="658368"/>
          </a:xfrm>
          <a:prstGeom prst="roundRect">
            <a:avLst/>
          </a:prstGeom>
          <a:solidFill>
            <a:srgbClr val="0B192B"/>
          </a:solidFill>
          <a:ln>
            <a:solidFill>
              <a:srgbClr val="3A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5819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ACCDA"/>
                </a:solidFill>
                <a:latin typeface="Aptos"/>
              </a:defRPr>
            </a:pPr>
            <a:r>
              <a:t>Parent process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18688" y="1417320"/>
            <a:ext cx="2743200" cy="658368"/>
          </a:xfrm>
          <a:prstGeom prst="roundRect">
            <a:avLst/>
          </a:prstGeom>
          <a:solidFill>
            <a:srgbClr val="102238"/>
          </a:solidFill>
          <a:ln>
            <a:solidFill>
              <a:srgbClr val="1F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58191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1F6FB"/>
                </a:solidFill>
                <a:latin typeface="Consolas"/>
              </a:defRPr>
            </a:pPr>
            <a:r>
              <a:t>fork()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417320"/>
            <a:ext cx="5330952" cy="658368"/>
          </a:xfrm>
          <a:prstGeom prst="roundRect">
            <a:avLst/>
          </a:prstGeom>
          <a:solidFill>
            <a:srgbClr val="0B192B"/>
          </a:solidFill>
          <a:ln>
            <a:solidFill>
              <a:srgbClr val="1F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8191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1F6FB"/>
                </a:solidFill>
                <a:latin typeface="Aptos"/>
              </a:defRPr>
            </a:pPr>
            <a:r>
              <a:t>Creates child process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359152"/>
            <a:ext cx="2331720" cy="658368"/>
          </a:xfrm>
          <a:prstGeom prst="roundRect">
            <a:avLst/>
          </a:prstGeom>
          <a:solidFill>
            <a:srgbClr val="0B192B"/>
          </a:solidFill>
          <a:ln>
            <a:solidFill>
              <a:srgbClr val="54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25237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485FF"/>
                </a:solidFill>
                <a:latin typeface="Aptos"/>
              </a:defRPr>
            </a:pPr>
            <a:r>
              <a:t>Child process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18688" y="2359152"/>
            <a:ext cx="2743200" cy="658368"/>
          </a:xfrm>
          <a:prstGeom prst="roundRect">
            <a:avLst/>
          </a:prstGeom>
          <a:solidFill>
            <a:srgbClr val="102238"/>
          </a:solidFill>
          <a:ln>
            <a:solidFill>
              <a:srgbClr val="1F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2523744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1F6FB"/>
                </a:solidFill>
                <a:latin typeface="Consolas"/>
              </a:defRPr>
            </a:pPr>
            <a:r>
              <a:t>Task + exit()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2359152"/>
            <a:ext cx="5330952" cy="658368"/>
          </a:xfrm>
          <a:prstGeom prst="roundRect">
            <a:avLst/>
          </a:prstGeom>
          <a:solidFill>
            <a:srgbClr val="0B192B"/>
          </a:solidFill>
          <a:ln>
            <a:solidFill>
              <a:srgbClr val="1F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523744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1F6FB"/>
                </a:solidFill>
                <a:latin typeface="Aptos"/>
              </a:defRPr>
            </a:pPr>
            <a:r>
              <a:t>Executes task and terminates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300984"/>
            <a:ext cx="2331720" cy="658368"/>
          </a:xfrm>
          <a:prstGeom prst="roundRect">
            <a:avLst/>
          </a:prstGeom>
          <a:solidFill>
            <a:srgbClr val="0B192B"/>
          </a:solidFill>
          <a:ln>
            <a:solidFill>
              <a:srgbClr val="54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4655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485FF"/>
                </a:solidFill>
                <a:latin typeface="Aptos"/>
              </a:defRPr>
            </a:pPr>
            <a:r>
              <a:t>Parent process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18688" y="3300984"/>
            <a:ext cx="2743200" cy="658368"/>
          </a:xfrm>
          <a:prstGeom prst="roundRect">
            <a:avLst/>
          </a:prstGeom>
          <a:solidFill>
            <a:srgbClr val="102238"/>
          </a:solidFill>
          <a:ln>
            <a:solidFill>
              <a:srgbClr val="1F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346557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1F6FB"/>
                </a:solidFill>
                <a:latin typeface="Consolas"/>
              </a:defRPr>
            </a:pPr>
            <a:r>
              <a:t>waitpid()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300984"/>
            <a:ext cx="5330952" cy="658368"/>
          </a:xfrm>
          <a:prstGeom prst="roundRect">
            <a:avLst/>
          </a:prstGeom>
          <a:solidFill>
            <a:srgbClr val="0B192B"/>
          </a:solidFill>
          <a:ln>
            <a:solidFill>
              <a:srgbClr val="1F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465576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1F6FB"/>
                </a:solidFill>
                <a:latin typeface="Aptos"/>
              </a:defRPr>
            </a:pPr>
            <a:r>
              <a:t>Waits and obtains status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242816"/>
            <a:ext cx="2331720" cy="658368"/>
          </a:xfrm>
          <a:prstGeom prst="roundRect">
            <a:avLst/>
          </a:prstGeom>
          <a:solidFill>
            <a:srgbClr val="0B192B"/>
          </a:solidFill>
          <a:ln>
            <a:solidFill>
              <a:srgbClr val="3A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40740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ACCDA"/>
                </a:solidFill>
                <a:latin typeface="Aptos"/>
              </a:defRPr>
            </a:pPr>
            <a:r>
              <a:t>Status analysis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18688" y="4242816"/>
            <a:ext cx="2743200" cy="658368"/>
          </a:xfrm>
          <a:prstGeom prst="roundRect">
            <a:avLst/>
          </a:prstGeom>
          <a:solidFill>
            <a:srgbClr val="102238"/>
          </a:solidFill>
          <a:ln>
            <a:solidFill>
              <a:srgbClr val="1F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4407407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1F6FB"/>
                </a:solidFill>
                <a:latin typeface="Consolas"/>
              </a:defRPr>
            </a:pPr>
            <a:r>
              <a:t>WIFEXITED() / WEXITSTATUS() / WIFSIGNALED()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0488" y="4242816"/>
            <a:ext cx="5330952" cy="658368"/>
          </a:xfrm>
          <a:prstGeom prst="roundRect">
            <a:avLst/>
          </a:prstGeom>
          <a:solidFill>
            <a:srgbClr val="0B192B"/>
          </a:solidFill>
          <a:ln>
            <a:solidFill>
              <a:srgbClr val="1F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407407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1F6FB"/>
                </a:solidFill>
                <a:latin typeface="Aptos"/>
              </a:defRPr>
            </a:pPr>
            <a:r>
              <a:t>Examines returned status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184648"/>
            <a:ext cx="2331720" cy="658368"/>
          </a:xfrm>
          <a:prstGeom prst="roundRect">
            <a:avLst/>
          </a:prstGeom>
          <a:solidFill>
            <a:srgbClr val="0B192B"/>
          </a:solidFill>
          <a:ln>
            <a:solidFill>
              <a:srgbClr val="44D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5349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4DC70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18688" y="5184648"/>
            <a:ext cx="2743200" cy="658368"/>
          </a:xfrm>
          <a:prstGeom prst="roundRect">
            <a:avLst/>
          </a:prstGeom>
          <a:solidFill>
            <a:srgbClr val="102238"/>
          </a:solidFill>
          <a:ln>
            <a:solidFill>
              <a:srgbClr val="1F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83280" y="53492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1F6FB"/>
                </a:solidFill>
                <a:latin typeface="Consolas"/>
              </a:defRPr>
            </a:pPr>
            <a:r>
              <a:t>Termination message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0488" y="5184648"/>
            <a:ext cx="5330952" cy="658368"/>
          </a:xfrm>
          <a:prstGeom prst="roundRect">
            <a:avLst/>
          </a:prstGeom>
          <a:solidFill>
            <a:srgbClr val="0B192B"/>
          </a:solidFill>
          <a:ln>
            <a:solidFill>
              <a:srgbClr val="1F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5349240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1F6FB"/>
                </a:solidFill>
                <a:latin typeface="Aptos"/>
              </a:defRPr>
            </a:pPr>
            <a:r>
              <a:t>Displays child PID and termination status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9EB0C5"/>
                </a:solidFill>
                <a:latin typeface="Aptos"/>
              </a:defRPr>
            </a:pPr>
            <a:r>
              <a:t>OSSP • 25CS2104E • 2026–27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5566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EB0C5"/>
                </a:solidFill>
                <a:latin typeface="Aptos"/>
              </a:defRPr>
            </a:pPr>
            <a: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11480" y="6080760"/>
            <a:ext cx="2331720" cy="0"/>
          </a:xfrm>
          <a:prstGeom prst="line">
            <a:avLst/>
          </a:prstGeom>
          <a:ln>
            <a:solidFill>
              <a:srgbClr val="1F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6263640"/>
            <a:ext cx="2331720" cy="0"/>
          </a:xfrm>
          <a:prstGeom prst="line">
            <a:avLst/>
          </a:prstGeom>
          <a:ln>
            <a:solidFill>
              <a:srgbClr val="1F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11480" y="6446520"/>
            <a:ext cx="2331720" cy="0"/>
          </a:xfrm>
          <a:prstGeom prst="line">
            <a:avLst/>
          </a:prstGeom>
          <a:ln>
            <a:solidFill>
              <a:srgbClr val="1F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3200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ACCD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6FB"/>
                </a:solidFill>
                <a:latin typeface="Aptos"/>
              </a:defRPr>
            </a:pPr>
            <a:r>
              <a:t>Software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78638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B0C5"/>
                </a:solidFill>
                <a:latin typeface="Aptos"/>
              </a:defRPr>
            </a:pPr>
            <a:r>
              <a:t>Tools / platforms / software listed in the submission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1170432"/>
            <a:ext cx="10972800" cy="0"/>
          </a:xfrm>
          <a:prstGeom prst="line">
            <a:avLst/>
          </a:prstGeom>
          <a:ln>
            <a:solidFill>
              <a:srgbClr val="1F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58368" y="1444752"/>
            <a:ext cx="10881360" cy="658368"/>
          </a:xfrm>
          <a:prstGeom prst="roundRect">
            <a:avLst/>
          </a:prstGeom>
          <a:solidFill>
            <a:srgbClr val="0B192B"/>
          </a:solidFill>
          <a:ln>
            <a:solidFill>
              <a:srgbClr val="1F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618488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ACCDA"/>
                </a:solidFill>
                <a:latin typeface="Aptos"/>
              </a:defRPr>
            </a:pPr>
            <a:r>
              <a:t>Linux / Ubuntu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1591056"/>
            <a:ext cx="8001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6FB"/>
                </a:solidFill>
                <a:latin typeface="Aptos"/>
              </a:defRPr>
            </a:pPr>
            <a:r>
              <a:t>Operating system and environment for implementation and testing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322576"/>
            <a:ext cx="10881360" cy="658368"/>
          </a:xfrm>
          <a:prstGeom prst="roundRect">
            <a:avLst/>
          </a:prstGeom>
          <a:solidFill>
            <a:srgbClr val="0B192B"/>
          </a:solidFill>
          <a:ln>
            <a:solidFill>
              <a:srgbClr val="1F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49631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485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468880"/>
            <a:ext cx="8001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6FB"/>
                </a:solidFill>
                <a:latin typeface="Aptos"/>
              </a:defRPr>
            </a:pPr>
            <a:r>
              <a:t>Programming language used to implement the process-management program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00400"/>
            <a:ext cx="10881360" cy="658368"/>
          </a:xfrm>
          <a:prstGeom prst="roundRect">
            <a:avLst/>
          </a:prstGeom>
          <a:solidFill>
            <a:srgbClr val="0B192B"/>
          </a:solidFill>
          <a:ln>
            <a:solidFill>
              <a:srgbClr val="1F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374136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4DC70"/>
                </a:solidFill>
                <a:latin typeface="Aptos"/>
              </a:defRPr>
            </a:pPr>
            <a:r>
              <a:t>GCC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346704"/>
            <a:ext cx="8001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6FB"/>
                </a:solidFill>
                <a:latin typeface="Aptos"/>
              </a:defRPr>
            </a:pPr>
            <a:r>
              <a:t>Compiler used to build the C program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078224"/>
            <a:ext cx="10881360" cy="658368"/>
          </a:xfrm>
          <a:prstGeom prst="roundRect">
            <a:avLst/>
          </a:prstGeom>
          <a:solidFill>
            <a:srgbClr val="0B192B"/>
          </a:solidFill>
          <a:ln>
            <a:solidFill>
              <a:srgbClr val="1F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25196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ACCDA"/>
                </a:solidFill>
                <a:latin typeface="Aptos"/>
              </a:defRPr>
            </a:pPr>
            <a:r>
              <a:t>Makefile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4224528"/>
            <a:ext cx="8001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6FB"/>
                </a:solidFill>
                <a:latin typeface="Aptos"/>
              </a:defRPr>
            </a:pPr>
            <a:r>
              <a:t>Build instructions for compiling the project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956048"/>
            <a:ext cx="10881360" cy="658368"/>
          </a:xfrm>
          <a:prstGeom prst="roundRect">
            <a:avLst/>
          </a:prstGeom>
          <a:solidFill>
            <a:srgbClr val="0B192B"/>
          </a:solidFill>
          <a:ln>
            <a:solidFill>
              <a:srgbClr val="1F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5129784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485FF"/>
                </a:solidFill>
                <a:latin typeface="Aptos"/>
              </a:defRPr>
            </a:pPr>
            <a:r>
              <a:t>Git / GitHub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5102352"/>
            <a:ext cx="8001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6FB"/>
                </a:solidFill>
                <a:latin typeface="Aptos"/>
              </a:defRPr>
            </a:pPr>
            <a:r>
              <a:t>Version control and project source-code management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897880"/>
            <a:ext cx="10881360" cy="365760"/>
          </a:xfrm>
          <a:prstGeom prst="roundRect">
            <a:avLst/>
          </a:prstGeom>
          <a:solidFill>
            <a:srgbClr val="102238"/>
          </a:solidFill>
          <a:ln>
            <a:solidFill>
              <a:srgbClr val="3AC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961888"/>
            <a:ext cx="10561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ACCDA"/>
                </a:solidFill>
                <a:latin typeface="Consolas"/>
              </a:defRPr>
            </a:pPr>
            <a:r>
              <a:t>Linux/POSIX APIs: fork(), waitpid(), exit(), getpid(), WIFEXITED(), WEXITSTATUS(), WIFSIGNALED()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9EB0C5"/>
                </a:solidFill>
                <a:latin typeface="Aptos"/>
              </a:defRPr>
            </a:pPr>
            <a:r>
              <a:t>OSSP • 25CS2104E • 2026–27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5566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EB0C5"/>
                </a:solidFill>
                <a:latin typeface="Aptos"/>
              </a:defRPr>
            </a:pPr>
            <a: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11480" y="6080760"/>
            <a:ext cx="2331720" cy="0"/>
          </a:xfrm>
          <a:prstGeom prst="line">
            <a:avLst/>
          </a:prstGeom>
          <a:ln>
            <a:solidFill>
              <a:srgbClr val="1F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6263640"/>
            <a:ext cx="2331720" cy="0"/>
          </a:xfrm>
          <a:prstGeom prst="line">
            <a:avLst/>
          </a:prstGeom>
          <a:ln>
            <a:solidFill>
              <a:srgbClr val="1F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11480" y="6446520"/>
            <a:ext cx="2331720" cy="0"/>
          </a:xfrm>
          <a:prstGeom prst="line">
            <a:avLst/>
          </a:prstGeom>
          <a:ln>
            <a:solidFill>
              <a:srgbClr val="1F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3200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ACCDA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6FB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786384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B0C5"/>
                </a:solidFill>
                <a:latin typeface="Aptos"/>
              </a:defRPr>
            </a:pPr>
            <a:r>
              <a:t>Expected outcome stated in the submission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1170432"/>
            <a:ext cx="10972800" cy="0"/>
          </a:xfrm>
          <a:prstGeom prst="line">
            <a:avLst/>
          </a:prstGeom>
          <a:ln>
            <a:solidFill>
              <a:srgbClr val="1F3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58368" y="1508760"/>
            <a:ext cx="6858000" cy="4526280"/>
          </a:xfrm>
          <a:prstGeom prst="roundRect">
            <a:avLst/>
          </a:prstGeom>
          <a:solidFill>
            <a:srgbClr val="0B192B"/>
          </a:solidFill>
          <a:ln>
            <a:solidFill>
              <a:srgbClr val="1F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1984248"/>
            <a:ext cx="64008" cy="64008"/>
          </a:xfrm>
          <a:prstGeom prst="roundRect">
            <a:avLst/>
          </a:prstGeom>
          <a:solidFill>
            <a:srgbClr val="3AC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1874519"/>
            <a:ext cx="58795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6FB"/>
                </a:solidFill>
                <a:latin typeface="Aptos"/>
              </a:defRPr>
            </a:pPr>
            <a:r>
              <a:t>A working Linux command-line program will create a child process and wait for its completion.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2807208"/>
            <a:ext cx="64008" cy="64008"/>
          </a:xfrm>
          <a:prstGeom prst="roundRect">
            <a:avLst/>
          </a:prstGeom>
          <a:solidFill>
            <a:srgbClr val="3AC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2697479"/>
            <a:ext cx="58795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6FB"/>
                </a:solidFill>
                <a:latin typeface="Aptos"/>
              </a:defRPr>
            </a:pPr>
            <a:r>
              <a:t>It will identify the termination condition and display a clear termination message with process information and status.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3630168"/>
            <a:ext cx="64008" cy="64008"/>
          </a:xfrm>
          <a:prstGeom prst="roundRect">
            <a:avLst/>
          </a:prstGeom>
          <a:solidFill>
            <a:srgbClr val="3AC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" y="3520439"/>
            <a:ext cx="58795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6FB"/>
                </a:solidFill>
                <a:latin typeface="Aptos"/>
              </a:defRPr>
            </a:pPr>
            <a:r>
              <a:t>Test cases will demonstrate normal and abnormal termination scenarios.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4453128"/>
            <a:ext cx="64008" cy="64008"/>
          </a:xfrm>
          <a:prstGeom prst="roundRect">
            <a:avLst/>
          </a:prstGeom>
          <a:solidFill>
            <a:srgbClr val="3AC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1288" y="4343400"/>
            <a:ext cx="58795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6FB"/>
                </a:solidFill>
                <a:latin typeface="Aptos"/>
              </a:defRPr>
            </a:pPr>
            <a:r>
              <a:t>The project provides hands-on understanding of process creation, parent-child relationships, synchronization, exit status, and Linux/POSIX process management.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1508760"/>
            <a:ext cx="3611880" cy="4526280"/>
          </a:xfrm>
          <a:prstGeom prst="roundRect">
            <a:avLst/>
          </a:prstGeom>
          <a:solidFill>
            <a:srgbClr val="102238"/>
          </a:solidFill>
          <a:ln>
            <a:solidFill>
              <a:srgbClr val="44D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1874519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4DC70"/>
                </a:solidFill>
                <a:latin typeface="Aptos"/>
              </a:defRPr>
            </a:pPr>
            <a:r>
              <a:t>PROJECT 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542032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1F6FB"/>
                </a:solidFill>
                <a:latin typeface="Aptos"/>
              </a:defRPr>
            </a:pPr>
            <a:r>
              <a:t>WORKING</a:t>
            </a:r>
            <a:br/>
            <a:r>
              <a:t>COMMAND-LINE</a:t>
            </a:r>
            <a:br/>
            <a:r>
              <a:t>PROGRAM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041648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EB0C5"/>
                </a:solidFill>
                <a:latin typeface="Aptos"/>
              </a:defRPr>
            </a:pPr>
            <a:r>
              <a:t>Normal + abnormal</a:t>
            </a:r>
            <a:br/>
            <a:r>
              <a:t>termination test cases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507492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4DC70"/>
                </a:solidFill>
                <a:latin typeface="Consolas"/>
              </a:defRPr>
            </a:pPr>
            <a:r>
              <a:t>✓ Clear termination message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9EB0C5"/>
                </a:solidFill>
                <a:latin typeface="Aptos"/>
              </a:defRPr>
            </a:pPr>
            <a:r>
              <a:t>OSSP • 25CS2104E • 2026–27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5566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EB0C5"/>
                </a:solidFill>
                <a:latin typeface="Aptos"/>
              </a:defRPr>
            </a:pPr>
            <a:r>
              <a:t>8/8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200" b="1">
                <a:solidFill>
                  <a:srgbClr val="F1F6FB"/>
                </a:solidFill>
                <a:latin typeface="Aptos Display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